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r>
              <a:t>IBM University Engagement Project Submission</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705241" y="4916537"/>
            <a:ext cx="10515600" cy="1500187"/>
          </a:xfrm>
        </p:spPr>
        <p:txBody>
          <a:bodyPr/>
          <a:lstStyle/>
          <a:p>
            <a:r>
              <a:rPr dirty="0"/>
              <a:t>AI-Powered Multi-Agent Pathology Assistant using IBM Granite &amp; </a:t>
            </a:r>
            <a:r>
              <a:rPr dirty="0" err="1"/>
              <a:t>LangFlow</a:t>
            </a:r>
            <a:endParaRPr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0349630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Dr. Jitendra H. Darji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Jhdarji.mca@gmail.com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9879203225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–AI in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486684"/>
            <a:ext cx="9581177" cy="461665"/>
          </a:xfrm>
          <a:prstGeom prst="rect">
            <a:avLst/>
          </a:prstGeom>
          <a:noFill/>
        </p:spPr>
        <p:txBody>
          <a:bodyPr wrap="square" rtlCol="0">
            <a:spAutoFit/>
          </a:bodyPr>
          <a:lstStyle/>
          <a:p>
            <a:r>
              <a:rPr lang="en-US" sz="2400" b="1" dirty="0"/>
              <a:t>Project Tile – Smart Study Generator Agent </a:t>
            </a:r>
            <a:endParaRPr lang="en-IN" sz="2400" b="1" dirty="0">
              <a:highlight>
                <a:srgbClr val="FFFF00"/>
              </a:highlight>
            </a:endParaRPr>
          </a:p>
        </p:txBody>
      </p:sp>
      <p:pic>
        <p:nvPicPr>
          <p:cNvPr id="3" name="Picture 2">
            <a:extLst>
              <a:ext uri="{FF2B5EF4-FFF2-40B4-BE49-F238E27FC236}">
                <a16:creationId xmlns:a16="http://schemas.microsoft.com/office/drawing/2014/main" id="{B188B710-10F5-1433-E7E5-6A4C5595C038}"/>
              </a:ext>
            </a:extLst>
          </p:cNvPr>
          <p:cNvPicPr>
            <a:picLocks noChangeAspect="1"/>
          </p:cNvPicPr>
          <p:nvPr/>
        </p:nvPicPr>
        <p:blipFill>
          <a:blip r:embed="rId3"/>
          <a:stretch>
            <a:fillRect/>
          </a:stretch>
        </p:blipFill>
        <p:spPr>
          <a:xfrm>
            <a:off x="4154806" y="3632678"/>
            <a:ext cx="856554" cy="11347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35394" y="866112"/>
            <a:ext cx="10635879" cy="532453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Students often struggle with information overload due to the abundance of educational resources available across various platforms.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learning tools provide static assistance and fail to personalize content according to individual learning needs.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challenge is to develop an Agentic AI-powered Study Companion that autonomously retrieves relevant study materials, summarizes complex topics, generates personalized learning plans, creates quizzes, and provides real-time academic support to improve learning outcomes and exam readiness.</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t>Solution-</a:t>
            </a:r>
            <a:endParaRPr lang="en-IN" sz="2000" b="1" dirty="0"/>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 Agentic AI-powered Study Material Generator built using </a:t>
            </a:r>
            <a:r>
              <a:rPr lang="en-US" sz="2000" dirty="0" err="1">
                <a:latin typeface="Times New Roman" panose="02020603050405020304" pitchFamily="18" charset="0"/>
                <a:cs typeface="Times New Roman" panose="02020603050405020304" pitchFamily="18" charset="0"/>
              </a:rPr>
              <a:t>LangFlow</a:t>
            </a:r>
            <a:r>
              <a:rPr lang="en-US" sz="2000" dirty="0">
                <a:latin typeface="Times New Roman" panose="02020603050405020304" pitchFamily="18" charset="0"/>
                <a:cs typeface="Times New Roman" panose="02020603050405020304" pitchFamily="18" charset="0"/>
              </a:rPr>
              <a:t>, IBM watsonx.ai, and IBM Granite Models.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uses a Study Material Agent to generate summaries and learning content, and an Educational Mentor Agent to create quizzes, revision notes, and personalized study plans.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solution helps students learn effectively, reduce information overload, and improve exam preparation.</a:t>
            </a: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435394" y="197651"/>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792480" y="1348633"/>
            <a:ext cx="10607040" cy="4653262"/>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Study Material Agent</a:t>
            </a:r>
            <a:r>
              <a:rPr lang="en-US" sz="2000" dirty="0">
                <a:latin typeface="Times New Roman" panose="02020603050405020304" pitchFamily="18" charset="0"/>
                <a:cs typeface="Times New Roman" panose="02020603050405020304" pitchFamily="18" charset="0"/>
              </a:rPr>
              <a:t> – Retrieves and organizes learning content. </a:t>
            </a:r>
          </a:p>
          <a:p>
            <a:pPr>
              <a:lnSpc>
                <a:spcPct val="150000"/>
              </a:lnSpc>
            </a:pPr>
            <a:r>
              <a:rPr lang="en-US" sz="2000" b="1" dirty="0">
                <a:latin typeface="Times New Roman" panose="02020603050405020304" pitchFamily="18" charset="0"/>
                <a:cs typeface="Times New Roman" panose="02020603050405020304" pitchFamily="18" charset="0"/>
              </a:rPr>
              <a:t>Summarization Agent</a:t>
            </a:r>
            <a:r>
              <a:rPr lang="en-US" sz="2000" dirty="0">
                <a:latin typeface="Times New Roman" panose="02020603050405020304" pitchFamily="18" charset="0"/>
                <a:cs typeface="Times New Roman" panose="02020603050405020304" pitchFamily="18" charset="0"/>
              </a:rPr>
              <a:t> – Generates concise notes and key concepts. </a:t>
            </a:r>
          </a:p>
          <a:p>
            <a:pPr>
              <a:lnSpc>
                <a:spcPct val="150000"/>
              </a:lnSpc>
            </a:pPr>
            <a:r>
              <a:rPr lang="en-US" sz="2000" b="1" dirty="0">
                <a:latin typeface="Times New Roman" panose="02020603050405020304" pitchFamily="18" charset="0"/>
                <a:cs typeface="Times New Roman" panose="02020603050405020304" pitchFamily="18" charset="0"/>
              </a:rPr>
              <a:t>Quiz Generation Agent</a:t>
            </a:r>
            <a:r>
              <a:rPr lang="en-US" sz="2000" dirty="0">
                <a:latin typeface="Times New Roman" panose="02020603050405020304" pitchFamily="18" charset="0"/>
                <a:cs typeface="Times New Roman" panose="02020603050405020304" pitchFamily="18" charset="0"/>
              </a:rPr>
              <a:t> – Creates practice questions and flashcards. </a:t>
            </a:r>
          </a:p>
          <a:p>
            <a:pPr>
              <a:lnSpc>
                <a:spcPct val="150000"/>
              </a:lnSpc>
            </a:pPr>
            <a:r>
              <a:rPr lang="en-US" sz="2000" b="1" dirty="0">
                <a:latin typeface="Times New Roman" panose="02020603050405020304" pitchFamily="18" charset="0"/>
                <a:cs typeface="Times New Roman" panose="02020603050405020304" pitchFamily="18" charset="0"/>
              </a:rPr>
              <a:t>Exam Preparation Agent</a:t>
            </a:r>
            <a:r>
              <a:rPr lang="en-US" sz="2000" dirty="0">
                <a:latin typeface="Times New Roman" panose="02020603050405020304" pitchFamily="18" charset="0"/>
                <a:cs typeface="Times New Roman" panose="02020603050405020304" pitchFamily="18" charset="0"/>
              </a:rPr>
              <a:t> – Provides personalized study plans and revision strategies. </a:t>
            </a:r>
          </a:p>
          <a:p>
            <a:pPr>
              <a:lnSpc>
                <a:spcPct val="150000"/>
              </a:lnSpc>
            </a:pPr>
            <a:r>
              <a:rPr lang="en-US" sz="2000" dirty="0">
                <a:latin typeface="Times New Roman" panose="02020603050405020304" pitchFamily="18" charset="0"/>
                <a:cs typeface="Times New Roman" panose="02020603050405020304" pitchFamily="18" charset="0"/>
              </a:rPr>
              <a:t>This aligns very well with the IBM evaluation criteria because it highlights:</a:t>
            </a:r>
          </a:p>
          <a:p>
            <a:pPr>
              <a:lnSpc>
                <a:spcPct val="150000"/>
              </a:lnSpc>
            </a:pPr>
            <a:r>
              <a:rPr lang="en-US" sz="2000" dirty="0">
                <a:latin typeface="Times New Roman" panose="02020603050405020304" pitchFamily="18" charset="0"/>
                <a:cs typeface="Times New Roman" panose="02020603050405020304" pitchFamily="18" charset="0"/>
              </a:rPr>
              <a:t>IBM watsonx.ai ✅ </a:t>
            </a:r>
          </a:p>
          <a:p>
            <a:pPr>
              <a:lnSpc>
                <a:spcPct val="150000"/>
              </a:lnSpc>
            </a:pPr>
            <a:r>
              <a:rPr lang="en-US" sz="2000" dirty="0">
                <a:latin typeface="Times New Roman" panose="02020603050405020304" pitchFamily="18" charset="0"/>
                <a:cs typeface="Times New Roman" panose="02020603050405020304" pitchFamily="18" charset="0"/>
              </a:rPr>
              <a:t>IBM Granite Models ✅ </a:t>
            </a:r>
          </a:p>
          <a:p>
            <a:pPr>
              <a:lnSpc>
                <a:spcPct val="150000"/>
              </a:lnSpc>
            </a:pPr>
            <a:r>
              <a:rPr lang="en-US" sz="2000" dirty="0">
                <a:latin typeface="Times New Roman" panose="02020603050405020304" pitchFamily="18" charset="0"/>
                <a:cs typeface="Times New Roman" panose="02020603050405020304" pitchFamily="18" charset="0"/>
              </a:rPr>
              <a:t>Agentic AI ✅ </a:t>
            </a:r>
          </a:p>
          <a:p>
            <a:pPr>
              <a:lnSpc>
                <a:spcPct val="150000"/>
              </a:lnSpc>
            </a:pPr>
            <a:r>
              <a:rPr lang="en-US" sz="2000" dirty="0" err="1">
                <a:latin typeface="Times New Roman" panose="02020603050405020304" pitchFamily="18" charset="0"/>
                <a:cs typeface="Times New Roman" panose="02020603050405020304" pitchFamily="18" charset="0"/>
              </a:rPr>
              <a:t>LangFlow</a:t>
            </a:r>
            <a:r>
              <a:rPr lang="en-US" sz="2000" dirty="0">
                <a:latin typeface="Times New Roman" panose="02020603050405020304" pitchFamily="18" charset="0"/>
                <a:cs typeface="Times New Roman" panose="02020603050405020304" pitchFamily="18" charset="0"/>
              </a:rPr>
              <a:t> Workflow ✅ </a:t>
            </a:r>
          </a:p>
          <a:p>
            <a:pPr>
              <a:lnSpc>
                <a:spcPct val="150000"/>
              </a:lnSpc>
            </a:pPr>
            <a:r>
              <a:rPr lang="en-US" sz="2000" dirty="0">
                <a:latin typeface="Times New Roman" panose="02020603050405020304" pitchFamily="18" charset="0"/>
                <a:cs typeface="Times New Roman" panose="02020603050405020304" pitchFamily="18" charset="0"/>
              </a:rPr>
              <a:t>Educational Use Case ✅</a:t>
            </a:r>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361049"/>
            <a:ext cx="10607040" cy="280698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solution is an AI-powered Smart Study Companion built using </a:t>
            </a:r>
            <a:r>
              <a:rPr lang="en-US" sz="2000" dirty="0" err="1">
                <a:latin typeface="Times New Roman" panose="02020603050405020304" pitchFamily="18" charset="0"/>
                <a:cs typeface="Times New Roman" panose="02020603050405020304" pitchFamily="18" charset="0"/>
              </a:rPr>
              <a:t>LangFlow</a:t>
            </a:r>
            <a:r>
              <a:rPr lang="en-US" sz="2000" dirty="0">
                <a:latin typeface="Times New Roman" panose="02020603050405020304" pitchFamily="18" charset="0"/>
                <a:cs typeface="Times New Roman" panose="02020603050405020304" pitchFamily="18" charset="0"/>
              </a:rPr>
              <a:t>, IBM watsonx.ai, and IBM Granite Models.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helps students organize study materials, generate summaries, create quizzes, and receive personalized learning recommendations.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AI agents work together to provide adaptive learning support, improve understanding of concepts, and help students prepare effectively for exams.</a:t>
            </a: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8823960" cy="717770"/>
          </a:xfrm>
          <a:prstGeom prst="rect">
            <a:avLst/>
          </a:prstGeom>
          <a:noFill/>
          <a:ln>
            <a:noFill/>
          </a:ln>
        </p:spPr>
        <p:txBody>
          <a:bodyPr spcFirstLastPara="1" wrap="square" lIns="0" tIns="0" rIns="0" bIns="0" anchor="t" anchorCtr="0">
            <a:noAutofit/>
          </a:bodyPr>
          <a:lstStyle/>
          <a:p>
            <a:r>
              <a:rPr lang="en-US" sz="2000" b="1" dirty="0">
                <a:latin typeface="Times New Roman" panose="02020603050405020304" pitchFamily="18" charset="0"/>
                <a:cs typeface="Times New Roman" panose="02020603050405020304" pitchFamily="18" charset="0"/>
              </a:rPr>
              <a:t>Multi-Agent Study Companion Workflow:</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Chat Input → Study Agent → Learning Agent → Chat Output</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318022"/>
            <a:ext cx="8823960" cy="5539978"/>
          </a:xfrm>
          <a:prstGeom prst="rect">
            <a:avLst/>
          </a:prstGeom>
          <a:noFill/>
        </p:spPr>
        <p:txBody>
          <a:bodyPr wrap="square" rtlCol="0">
            <a:spAutoFit/>
          </a:bodyPr>
          <a:lstStyle/>
          <a:p>
            <a:endParaRPr lang="en-US" dirty="0"/>
          </a:p>
          <a:p>
            <a:pPr>
              <a:lnSpc>
                <a:spcPct val="150000"/>
              </a:lnSpc>
            </a:pPr>
            <a:r>
              <a:rPr lang="en-US" sz="2000" b="1" dirty="0">
                <a:latin typeface="Times New Roman" panose="02020603050405020304" pitchFamily="18" charset="0"/>
                <a:cs typeface="Times New Roman" panose="02020603050405020304" pitchFamily="18" charset="0"/>
              </a:rPr>
              <a:t>Chat Input</a:t>
            </a:r>
            <a:r>
              <a:rPr lang="en-US" sz="2000" dirty="0">
                <a:latin typeface="Times New Roman" panose="02020603050405020304" pitchFamily="18" charset="0"/>
                <a:cs typeface="Times New Roman" panose="02020603050405020304" pitchFamily="18" charset="0"/>
              </a:rPr>
              <a:t> – Students enter questions, topics, or study materials.</a:t>
            </a:r>
          </a:p>
          <a:p>
            <a:pPr>
              <a:lnSpc>
                <a:spcPct val="150000"/>
              </a:lnSpc>
            </a:pPr>
            <a:r>
              <a:rPr lang="en-US" sz="2000" b="1" dirty="0">
                <a:latin typeface="Times New Roman" panose="02020603050405020304" pitchFamily="18" charset="0"/>
                <a:cs typeface="Times New Roman" panose="02020603050405020304" pitchFamily="18" charset="0"/>
              </a:rPr>
              <a:t>IBM </a:t>
            </a:r>
            <a:r>
              <a:rPr lang="en-US" sz="2000" b="1" dirty="0" err="1">
                <a:latin typeface="Times New Roman" panose="02020603050405020304" pitchFamily="18" charset="0"/>
                <a:cs typeface="Times New Roman" panose="02020603050405020304" pitchFamily="18" charset="0"/>
              </a:rPr>
              <a:t>watsonx</a:t>
            </a:r>
            <a:r>
              <a:rPr lang="en-US" sz="2000" b="1" dirty="0">
                <a:latin typeface="Times New Roman" panose="02020603050405020304" pitchFamily="18" charset="0"/>
                <a:cs typeface="Times New Roman" panose="02020603050405020304" pitchFamily="18" charset="0"/>
              </a:rPr>
              <a:t> AI Agent</a:t>
            </a:r>
            <a:r>
              <a:rPr lang="en-US" sz="2000" dirty="0">
                <a:latin typeface="Times New Roman" panose="02020603050405020304" pitchFamily="18" charset="0"/>
                <a:cs typeface="Times New Roman" panose="02020603050405020304" pitchFamily="18" charset="0"/>
              </a:rPr>
              <a:t> – Processes queries and provides personalized learning support.</a:t>
            </a:r>
          </a:p>
          <a:p>
            <a:pPr>
              <a:lnSpc>
                <a:spcPct val="150000"/>
              </a:lnSpc>
            </a:pPr>
            <a:r>
              <a:rPr lang="en-US" sz="2000" b="1" dirty="0">
                <a:latin typeface="Times New Roman" panose="02020603050405020304" pitchFamily="18" charset="0"/>
                <a:cs typeface="Times New Roman" panose="02020603050405020304" pitchFamily="18" charset="0"/>
              </a:rPr>
              <a:t>IBM Granite-4.0-8B-Instruct</a:t>
            </a:r>
            <a:r>
              <a:rPr lang="en-US" sz="2000" dirty="0">
                <a:latin typeface="Times New Roman" panose="02020603050405020304" pitchFamily="18" charset="0"/>
                <a:cs typeface="Times New Roman" panose="02020603050405020304" pitchFamily="18" charset="0"/>
              </a:rPr>
              <a:t> – Generates summaries, explanations, quizzes, and study recommendations.</a:t>
            </a:r>
          </a:p>
          <a:p>
            <a:pPr>
              <a:lnSpc>
                <a:spcPct val="150000"/>
              </a:lnSpc>
            </a:pPr>
            <a:r>
              <a:rPr lang="en-US" sz="2000" b="1" dirty="0">
                <a:latin typeface="Times New Roman" panose="02020603050405020304" pitchFamily="18" charset="0"/>
                <a:cs typeface="Times New Roman" panose="02020603050405020304" pitchFamily="18" charset="0"/>
              </a:rPr>
              <a:t>Chat Output</a:t>
            </a:r>
            <a:r>
              <a:rPr lang="en-US" sz="2000" dirty="0">
                <a:latin typeface="Times New Roman" panose="02020603050405020304" pitchFamily="18" charset="0"/>
                <a:cs typeface="Times New Roman" panose="02020603050405020304" pitchFamily="18" charset="0"/>
              </a:rPr>
              <a:t> – Displays AI-generated answers, notes, quizzes, and study plans.</a:t>
            </a:r>
          </a:p>
          <a:p>
            <a:pPr>
              <a:lnSpc>
                <a:spcPct val="150000"/>
              </a:lnSpc>
            </a:pPr>
            <a:r>
              <a:rPr lang="en-US" sz="2000" b="1" dirty="0">
                <a:latin typeface="Times New Roman" panose="02020603050405020304" pitchFamily="18" charset="0"/>
                <a:cs typeface="Times New Roman" panose="02020603050405020304" pitchFamily="18" charset="0"/>
              </a:rPr>
              <a:t>File Component</a:t>
            </a:r>
            <a:r>
              <a:rPr lang="en-US" sz="2000" dirty="0">
                <a:latin typeface="Times New Roman" panose="02020603050405020304" pitchFamily="18" charset="0"/>
                <a:cs typeface="Times New Roman" panose="02020603050405020304" pitchFamily="18" charset="0"/>
              </a:rPr>
              <a:t> – Stores and retrieves study notes, PDFs, and learning resources.</a:t>
            </a:r>
          </a:p>
          <a:p>
            <a:pPr>
              <a:lnSpc>
                <a:spcPct val="150000"/>
              </a:lnSpc>
            </a:pPr>
            <a:r>
              <a:rPr lang="en-US" sz="2000" b="1" dirty="0">
                <a:latin typeface="Times New Roman" panose="02020603050405020304" pitchFamily="18" charset="0"/>
                <a:cs typeface="Times New Roman" panose="02020603050405020304" pitchFamily="18" charset="0"/>
              </a:rPr>
              <a:t>Study Planner Agent</a:t>
            </a:r>
            <a:r>
              <a:rPr lang="en-US" sz="2000" dirty="0">
                <a:latin typeface="Times New Roman" panose="02020603050405020304" pitchFamily="18" charset="0"/>
                <a:cs typeface="Times New Roman" panose="02020603050405020304" pitchFamily="18" charset="0"/>
              </a:rPr>
              <a:t> – Creates personalized study schedules and exam preparation plans.</a:t>
            </a:r>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t>Chat Input, IBM watsonx AI Agent, Granite Model, Chat Output, File Components</a:t>
            </a: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t>User Query → Pathology Analysis Agent → Secondary Expert Agent → Response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t>Agentic AI architecture with coordinated healthcare reasoning agents</a:t>
            </a:r>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t>Autonomous task delegation, medical context understanding, and collaborative reasoning</a:t>
            </a: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t>Multi-agent pathology reasoning using IBM Granite models and LangFlow orchestration</a:t>
            </a: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r>
              <a:rPr lang="en-US" sz="2400" b="1" dirty="0" err="1">
                <a:latin typeface="Times New Roman" panose="02020603050405020304" pitchFamily="18" charset="0"/>
                <a:cs typeface="Times New Roman" panose="02020603050405020304" pitchFamily="18" charset="0"/>
              </a:rPr>
              <a:t>Github</a:t>
            </a:r>
            <a:r>
              <a:rPr lang="en-US" sz="2400" b="1" dirty="0">
                <a:latin typeface="Times New Roman" panose="02020603050405020304" pitchFamily="18" charset="0"/>
                <a:cs typeface="Times New Roman" panose="02020603050405020304" pitchFamily="18" charset="0"/>
              </a:rPr>
              <a:t> Link</a:t>
            </a:r>
            <a:endParaRPr sz="2400" b="1" dirty="0">
              <a:latin typeface="Times New Roman" panose="02020603050405020304" pitchFamily="18" charset="0"/>
              <a:cs typeface="Times New Roman" panose="02020603050405020304" pitchFamily="18" charset="0"/>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696488"/>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https://github.com/jhdarjimca-boop/STudy-Material-Generator</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1393</TotalTime>
  <Words>1089</Words>
  <Application>Microsoft Office PowerPoint</Application>
  <PresentationFormat>Widescreen</PresentationFormat>
  <Paragraphs>99</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Dr.Jayesh Darji</cp:lastModifiedBy>
  <cp:revision>24</cp:revision>
  <dcterms:created xsi:type="dcterms:W3CDTF">2025-07-08T05:06:56Z</dcterms:created>
  <dcterms:modified xsi:type="dcterms:W3CDTF">2026-06-12T04:04:49Z</dcterms:modified>
</cp:coreProperties>
</file>